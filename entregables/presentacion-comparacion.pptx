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558d00d16ce48dc" /><Relationship Type="http://schemas.openxmlformats.org/officeDocument/2006/relationships/extended-properties" Target="/docProps/app.xml" Id="Re90540b7459e47c8" /><Relationship Type="http://schemas.openxmlformats.org/officeDocument/2006/relationships/officeDocument" Target="/ppt/presentation.xml" Id="Rb017c84fe805447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176ba345526463f"/>
  </p:sldMasterIdLst>
  <p:notesMasterIdLst>
    <p:notesMasterId xmlns:r="http://schemas.openxmlformats.org/officeDocument/2006/relationships" r:id="Rb43bcf3858234fda"/>
  </p:notesMasterIdLst>
  <p:sldIdLst>
    <p:sldId xmlns:r="http://schemas.openxmlformats.org/officeDocument/2006/relationships" id="256" r:id="Rde33858da5d34431"/>
    <p:sldId xmlns:r="http://schemas.openxmlformats.org/officeDocument/2006/relationships" id="257" r:id="Rf0af3d73d5ae4060"/>
    <p:sldId xmlns:r="http://schemas.openxmlformats.org/officeDocument/2006/relationships" id="258" r:id="R560c1abb2afa42ae"/>
    <p:sldId xmlns:r="http://schemas.openxmlformats.org/officeDocument/2006/relationships" id="259" r:id="R84c683deddcc47a0"/>
    <p:sldId xmlns:r="http://schemas.openxmlformats.org/officeDocument/2006/relationships" id="260" r:id="R23bd04946bd34ab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c162eb6ba66477a" /><Relationship Type="http://schemas.openxmlformats.org/officeDocument/2006/relationships/slideMaster" Target="/ppt/slideMasters/slideMaster1.xml" Id="R6176ba345526463f" /><Relationship Type="http://schemas.openxmlformats.org/officeDocument/2006/relationships/notesMaster" Target="/ppt/notesMasters/notesMaster1.xml" Id="Rb43bcf3858234fda" /><Relationship Type="http://schemas.openxmlformats.org/officeDocument/2006/relationships/presProps" Target="/ppt/presProps.xml" Id="R701923a33382430c" /><Relationship Type="http://schemas.openxmlformats.org/officeDocument/2006/relationships/tableStyles" Target="/ppt/tableStyles.xml" Id="R955e5d2fc5454bb2" /><Relationship Type="http://schemas.openxmlformats.org/officeDocument/2006/relationships/slide" Target="/ppt/slides/slide1.xml" Id="Rde33858da5d34431" /><Relationship Type="http://schemas.openxmlformats.org/officeDocument/2006/relationships/slide" Target="/ppt/slides/slide2.xml" Id="Rf0af3d73d5ae4060" /><Relationship Type="http://schemas.openxmlformats.org/officeDocument/2006/relationships/slide" Target="/ppt/slides/slide3.xml" Id="R560c1abb2afa42ae" /><Relationship Type="http://schemas.openxmlformats.org/officeDocument/2006/relationships/slide" Target="/ppt/slides/slide4.xml" Id="R84c683deddcc47a0" /><Relationship Type="http://schemas.openxmlformats.org/officeDocument/2006/relationships/slide" Target="/ppt/slides/slide5.xml" Id="R23bd04946bd34ab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83e6b157d014a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b842aa9c68243a8" /><Relationship Type="http://schemas.openxmlformats.org/officeDocument/2006/relationships/notesMaster" Target="/ppt/notesMasters/notesMaster1.xml" Id="R4c6b5562a0c3417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6a9ed92de0f4646" /><Relationship Type="http://schemas.openxmlformats.org/officeDocument/2006/relationships/notesMaster" Target="/ppt/notesMasters/notesMaster1.xml" Id="Rc49fe6650a184e9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66f3b968f1c4bb5" /><Relationship Type="http://schemas.openxmlformats.org/officeDocument/2006/relationships/notesMaster" Target="/ppt/notesMasters/notesMaster1.xml" Id="R19eae1fbe5884fc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8447de07124d09" /><Relationship Type="http://schemas.openxmlformats.org/officeDocument/2006/relationships/notesMaster" Target="/ppt/notesMasters/notesMaster1.xml" Id="R7a09a808d0f44e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63fb3ddef64941" /><Relationship Type="http://schemas.openxmlformats.org/officeDocument/2006/relationships/notesMaster" Target="/ppt/notesMasters/notesMaster1.xml" Id="Rb77ed418f725490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efdab7e5eb41f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ebd6c254314b8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30e50bdb28477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788a85969e4a3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9820cfda34499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10568337e6417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8A3AEF3-7FBF-45C2-9FC7-6AAFA7187B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752A4A9-E375-44B2-AA14-A8A63B6672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F8E8105-E510-4A6C-9577-866ED460EC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19577D5-9278-4F5A-B541-9C553445B3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DD3391E-0FE2-4B91-93F7-C0CEBE4CF3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5FDEE8A-EB2E-4082-9206-5ADACB18D3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730CA66-9F87-44CF-91CC-56BA85671D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CEA28BF-FA5F-49DF-8AB1-8DE4F204540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C571129-6297-452A-97BD-CF7A01278A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A565124-D151-4392-8B62-C0D26653327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d9a5bd79d314393" /><Relationship Type="http://schemas.openxmlformats.org/officeDocument/2006/relationships/slideLayout" Target="/ppt/slideLayouts/slideLayout1.xml" Id="R0939251c02f0469d" /><Relationship Type="http://schemas.openxmlformats.org/officeDocument/2006/relationships/slideLayout" Target="/ppt/slideLayouts/slideLayout2.xml" Id="R1b5e477d85e648a0" /><Relationship Type="http://schemas.openxmlformats.org/officeDocument/2006/relationships/slideLayout" Target="/ppt/slideLayouts/slideLayout3.xml" Id="R57bf94a1c60c4fbb" /><Relationship Type="http://schemas.openxmlformats.org/officeDocument/2006/relationships/slideLayout" Target="/ppt/slideLayouts/slideLayout4.xml" Id="R36b536c395ff49c7" /><Relationship Type="http://schemas.openxmlformats.org/officeDocument/2006/relationships/slideLayout" Target="/ppt/slideLayouts/slideLayout5.xml" Id="Re6f6e2c46a224fff" /><Relationship Type="http://schemas.openxmlformats.org/officeDocument/2006/relationships/slideLayout" Target="/ppt/slideLayouts/slideLayout6.xml" Id="R1b86880400d0494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939251c02f0469d"/>
    <p:sldLayoutId xmlns:r="http://schemas.openxmlformats.org/officeDocument/2006/relationships" id="2147483650" r:id="R1b5e477d85e648a0"/>
    <p:sldLayoutId xmlns:r="http://schemas.openxmlformats.org/officeDocument/2006/relationships" id="2147483651" r:id="R57bf94a1c60c4fbb"/>
    <p:sldLayoutId xmlns:r="http://schemas.openxmlformats.org/officeDocument/2006/relationships" id="2147483652" r:id="R36b536c395ff49c7"/>
    <p:sldLayoutId xmlns:r="http://schemas.openxmlformats.org/officeDocument/2006/relationships" id="2147483653" r:id="Re6f6e2c46a224fff"/>
    <p:sldLayoutId xmlns:r="http://schemas.openxmlformats.org/officeDocument/2006/relationships" id="2147483654" r:id="R1b86880400d0494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342c8227994116" /><Relationship Type="http://schemas.openxmlformats.org/officeDocument/2006/relationships/notesSlide" Target="/ppt/notesSlides/notesSlide1.xml" Id="R9e789c911b1048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49a0a29585469b" /><Relationship Type="http://schemas.openxmlformats.org/officeDocument/2006/relationships/notesSlide" Target="/ppt/notesSlides/notesSlide2.xml" Id="Rfbf4debb461846c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7f3e1862754488" /><Relationship Type="http://schemas.openxmlformats.org/officeDocument/2006/relationships/notesSlide" Target="/ppt/notesSlides/notesSlide3.xml" Id="Rcc47d8c3825e4f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133f71a94f4553" /><Relationship Type="http://schemas.openxmlformats.org/officeDocument/2006/relationships/notesSlide" Target="/ppt/notesSlides/notesSlide4.xml" Id="R6b721b9c110843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a656eb15244837" /><Relationship Type="http://schemas.openxmlformats.org/officeDocument/2006/relationships/notesSlide" Target="/ppt/notesSlides/notesSlide5.xml" Id="R04764e60067d45a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2B4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065D0E-B27E-4830-B516-605DA2AE9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5D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F65C65-7316-4BC7-A87C-9402E6655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A9D9D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A9D9D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A9D9D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A9D9D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A9D9D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A9D9D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A9D9D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A9D9D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A9D9D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A9D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A9D9D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A9D9DF"/>
                </a:solidFill>
                <a:latin typeface="Arial"/>
                <a:ea typeface="Arial"/>
                <a:cs typeface="Arial"/>
              </a:rPr>
              <a:t>Taller #6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A46E99-AD76-4A6A-B144-F3A32F798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Pruebas de Tres en Raya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9AD810-0A54-4093-A65C-0C65CBD11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9560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0">
                <a:solidFill>
                  <a:srgbClr val="D9E6E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D9E6E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D9E6E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D9E6E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D9E6E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D9E6E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D9E6E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D9E6E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D9E6E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D9E6E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D9E6E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9E6EF"/>
                </a:solidFill>
                <a:latin typeface="Arial"/>
                <a:ea typeface="Arial"/>
                <a:cs typeface="Arial"/>
              </a:rPr>
              <a:t>Los mismos 8 casos, escritos de dos maneras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0525A1-B662-4E8E-A6B5-AEED72A67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9144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Comparación entre una versión corta para estudiar y una versión más explicada generada con 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8B6CDA-DD32-48CA-AED8-3836BF07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817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A9D9DF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A9D9DF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A9D9DF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A9D9DF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A9D9DF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A9D9DF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A9D9DF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A9D9DF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A9D9DF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A9D9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A9D9D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9D9DF"/>
                </a:solidFill>
                <a:latin typeface="Arial"/>
                <a:ea typeface="Arial"/>
                <a:cs typeface="Arial"/>
              </a:rPr>
              <a:t>Proyecto: taller-6-tdd</a:t>
            </a:r>
          </a:p>
        </p:txBody>
      </p:sp>
    </p:spTree>
    <p:extLst>
      <p:ext uri="{BB962C8B-B14F-4D97-AF65-F5344CB8AC3E}">
        <p14:creationId xmlns:p14="http://schemas.microsoft.com/office/powerpoint/2010/main" val="13450320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BBFEFE-A3EE-4417-B9E1-02F607A13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Las dos suites comprueban los mismos 8 casos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809C56-D5AF-490D-820D-BB7890968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579"/>
                </a:solidFill>
                <a:latin typeface="Arial"/>
                <a:ea typeface="Arial"/>
                <a:cs typeface="Arial"/>
              </a:rPr>
              <a:t>Taller 6 · TDD                                 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128590-8448-483F-85BA-2655F608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51054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6F1C6F-D415-4D6A-8631-B2C85B393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38275"/>
            <a:ext cx="4724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  Inicio: tablero vacío y empieza 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B86FCE-5B59-4DC4-8B0A-67D4F177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51054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14FE7B-BA7B-4985-A7F4-C00046E9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05075"/>
            <a:ext cx="4724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2  Jugada válida: cambia el turno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36C569-431F-4EB6-A757-D471CF448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51054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372185-7A55-498A-A98F-81491A123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4724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3  Victoria: completar una fila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E88084-6E56-4D98-B89F-8CF2B4DD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51054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2D1DC2-9BDF-4A1B-A2EF-0B4F16559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38675"/>
            <a:ext cx="4724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4  Victoria: completar una diagonal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2C5110-7DA8-408D-B5D8-3A457F15B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314450"/>
            <a:ext cx="51054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3615AA-E6F6-4D14-86BF-4C4DE02DA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438275"/>
            <a:ext cx="4724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  Empate: tablero lleno sin ganador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6C177D-4D87-49EC-A2AC-5E1DBC1D1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81250"/>
            <a:ext cx="51054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D709B5-5AFA-4F19-A031-5559BBDED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05075"/>
            <a:ext cx="4724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6  Error: casilla ya ocupada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1E06D8-5F21-4F4E-9E88-B761AD2C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48050"/>
            <a:ext cx="51054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3EAF63-A586-4D4B-AE93-83A84A2A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71875"/>
            <a:ext cx="4724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7  Error: posición fuera del tablero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E594CF-CE32-4B35-B41B-D9254C746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514850"/>
            <a:ext cx="51054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8BFBDB-3693-46F8-B87A-BD1CEF0D3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38675"/>
            <a:ext cx="4724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8  Error: jugar después de ganar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E242E7-AF2D-4A31-8B87-77C1A346D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>
              <a:defRPr sz="14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>
              <a:defRPr sz="14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>
              <a:defRPr sz="14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>
              <a:defRPr sz="14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>
              <a:defRPr sz="14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>
              <a:defRPr sz="14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>
              <a:defRPr sz="14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>
              <a:defRPr sz="14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>
              <a:defRPr sz="14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La diferencia está en la forma de explicar cada prueba, no en los comportamientos que cubre.</a:t>
            </a:r>
          </a:p>
        </p:txBody>
      </p:sp>
    </p:spTree>
    <p:extLst>
      <p:ext uri="{BB962C8B-B14F-4D97-AF65-F5344CB8AC3E}">
        <p14:creationId xmlns:p14="http://schemas.microsoft.com/office/powerpoint/2010/main" val="20824209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5DCCD5-72C9-4AF2-AA6A-161AE55F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Un ejemplo: la misma victoria, con distinto nivel de detalle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F4DF64-31E2-4F30-942D-3BBAA058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579"/>
                </a:solidFill>
                <a:latin typeface="Arial"/>
                <a:ea typeface="Arial"/>
                <a:cs typeface="Arial"/>
              </a:rPr>
              <a:t>Taller 6 · TDD                                 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A27E1-18DE-4D81-838D-7339FE750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667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VERSIÓN CORTA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4986A5-9099-4236-BC08-6FDB8FCB2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49530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354285-2977-43DB-BF6B-E8F16316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85950"/>
            <a:ext cx="44958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defPPr>
            <a:lvl1pPr>
              <a:defRPr sz="135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lvl1pPr>
            <a:lvl2pPr>
              <a:defRPr sz="135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lvl2pPr>
            <a:lvl3pPr>
              <a:defRPr sz="135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lvl3pPr>
            <a:lvl4pPr>
              <a:defRPr sz="135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lvl4pPr>
            <a:lvl5pPr>
              <a:defRPr sz="135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lvl5pPr>
            <a:lvl6pPr>
              <a:defRPr sz="135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lvl6pPr>
            <a:lvl7pPr>
              <a:defRPr sz="135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lvl7pPr>
            <a:lvl8pPr>
              <a:defRPr sz="135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lvl8pPr>
            <a:lvl9pPr>
              <a:defRPr sz="135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172B4D"/>
                </a:solidFill>
                <a:latin typeface="Menlo"/>
                <a:ea typeface="Menlo"/>
                <a:cs typeface="Menlo"/>
              </a:rPr>
              <a:t>test("gana al completar una fila", () =&gt; {</a:t>
            </a:r>
          </a:p>
          <a:p xmlns:a="http://schemas.openxmlformats.org/drawingml/2006/main">
            <a:pPr>
              <a:defRPr sz="135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172B4D"/>
                </a:solidFill>
                <a:latin typeface="Menlo"/>
                <a:ea typeface="Menlo"/>
                <a:cs typeface="Menlo"/>
              </a:rPr>
              <a:t>  const juego = crearJuego();</a:t>
            </a:r>
          </a:p>
          <a:p xmlns:a="http://schemas.openxmlformats.org/drawingml/2006/main">
            <a:pPr>
              <a:defRPr sz="135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172B4D"/>
                </a:solidFill>
                <a:latin typeface="Menlo"/>
                <a:ea typeface="Menlo"/>
                <a:cs typeface="Menlo"/>
              </a:rPr>
              <a:t>  [0, 3, 1, 4].forEach((p) =&gt; jugar(juego, p));</a:t>
            </a:r>
          </a:p>
          <a:p xmlns:a="http://schemas.openxmlformats.org/drawingml/2006/main">
            <a:pPr>
              <a:defRPr sz="135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172B4D"/>
                </a:solidFill>
                <a:latin typeface="Menlo"/>
                <a:ea typeface="Menlo"/>
                <a:cs typeface="Menlo"/>
              </a:rPr>
              <a:t>  assert.equal(jugar(juego, 2).mensaje, "Ganó X");</a:t>
            </a:r>
          </a:p>
          <a:p xmlns:a="http://schemas.openxmlformats.org/drawingml/2006/main">
            <a:pPr>
              <a:defRPr sz="135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172B4D"/>
                </a:solidFill>
                <a:latin typeface="Menlo"/>
                <a:ea typeface="Menlo"/>
                <a:cs typeface="Menlo"/>
              </a:rPr>
              <a:t>});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C0FC3D-043D-49A1-9857-7D475535E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2573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1">
                <a:solidFill>
                  <a:srgbClr val="E85D3F"/>
                </a:solidFill>
                <a:latin typeface="Arial"/>
                <a:ea typeface="Arial"/>
                <a:cs typeface="Arial"/>
              </a:defRPr>
            </a:defPPr>
            <a:lvl1pPr>
              <a:defRPr sz="1200" b="1">
                <a:solidFill>
                  <a:srgbClr val="E85D3F"/>
                </a:solidFill>
                <a:latin typeface="Arial"/>
                <a:ea typeface="Arial"/>
                <a:cs typeface="Arial"/>
              </a:defRPr>
            </a:lvl1pPr>
            <a:lvl2pPr>
              <a:defRPr sz="1200" b="1">
                <a:solidFill>
                  <a:srgbClr val="E85D3F"/>
                </a:solidFill>
                <a:latin typeface="Arial"/>
                <a:ea typeface="Arial"/>
                <a:cs typeface="Arial"/>
              </a:defRPr>
            </a:lvl2pPr>
            <a:lvl3pPr>
              <a:defRPr sz="1200" b="1">
                <a:solidFill>
                  <a:srgbClr val="E85D3F"/>
                </a:solidFill>
                <a:latin typeface="Arial"/>
                <a:ea typeface="Arial"/>
                <a:cs typeface="Arial"/>
              </a:defRPr>
            </a:lvl3pPr>
            <a:lvl4pPr>
              <a:defRPr sz="1200" b="1">
                <a:solidFill>
                  <a:srgbClr val="E85D3F"/>
                </a:solidFill>
                <a:latin typeface="Arial"/>
                <a:ea typeface="Arial"/>
                <a:cs typeface="Arial"/>
              </a:defRPr>
            </a:lvl4pPr>
            <a:lvl5pPr>
              <a:defRPr sz="1200" b="1">
                <a:solidFill>
                  <a:srgbClr val="E85D3F"/>
                </a:solidFill>
                <a:latin typeface="Arial"/>
                <a:ea typeface="Arial"/>
                <a:cs typeface="Arial"/>
              </a:defRPr>
            </a:lvl5pPr>
            <a:lvl6pPr>
              <a:defRPr sz="1200" b="1">
                <a:solidFill>
                  <a:srgbClr val="E85D3F"/>
                </a:solidFill>
                <a:latin typeface="Arial"/>
                <a:ea typeface="Arial"/>
                <a:cs typeface="Arial"/>
              </a:defRPr>
            </a:lvl6pPr>
            <a:lvl7pPr>
              <a:defRPr sz="1200" b="1">
                <a:solidFill>
                  <a:srgbClr val="E85D3F"/>
                </a:solidFill>
                <a:latin typeface="Arial"/>
                <a:ea typeface="Arial"/>
                <a:cs typeface="Arial"/>
              </a:defRPr>
            </a:lvl7pPr>
            <a:lvl8pPr>
              <a:defRPr sz="1200" b="1">
                <a:solidFill>
                  <a:srgbClr val="E85D3F"/>
                </a:solidFill>
                <a:latin typeface="Arial"/>
                <a:ea typeface="Arial"/>
                <a:cs typeface="Arial"/>
              </a:defRPr>
            </a:lvl8pPr>
            <a:lvl9pPr>
              <a:defRPr sz="1200" b="1">
                <a:solidFill>
                  <a:srgbClr val="E85D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85D3F"/>
                </a:solidFill>
                <a:latin typeface="Arial"/>
                <a:ea typeface="Arial"/>
                <a:cs typeface="Arial"/>
              </a:rPr>
              <a:t>VERSIÓN EXPLICADA POR IA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9F6ED5-E500-4301-B12C-5C8EBA9C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57350"/>
            <a:ext cx="53340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706277-3356-4330-AD6D-64779CAA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66900"/>
            <a:ext cx="491490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2B4D"/>
                </a:solidFill>
                <a:latin typeface="Menlo"/>
                <a:ea typeface="Menlo"/>
                <a:cs typeface="Menlo"/>
              </a:rPr>
              <a:t>test("al completar una fila, el juego anuncia que ganó X", () =&gt; {</a:t>
            </a:r>
          </a:p>
          <a:p xmlns:a="http://schemas.openxmlformats.org/drawingml/2006/main">
            <a:pPr>
              <a:defRPr sz="120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2B4D"/>
                </a:solidFill>
                <a:latin typeface="Menlo"/>
                <a:ea typeface="Menlo"/>
                <a:cs typeface="Menlo"/>
              </a:rPr>
              <a:t>  const juego = crearJuego();</a:t>
            </a:r>
          </a:p>
          <a:p xmlns:a="http://schemas.openxmlformats.org/drawingml/2006/main">
            <a:pPr>
              <a:defRPr sz="120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2B4D"/>
                </a:solidFill>
                <a:latin typeface="Menlo"/>
                <a:ea typeface="Menlo"/>
                <a:cs typeface="Menlo"/>
              </a:rPr>
              <a:t>  [0, 3, 1, 4].forEach((posicion) =&gt; jugar(juego, posicion));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0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2B4D"/>
                </a:solidFill>
                <a:latin typeface="Menlo"/>
                <a:ea typeface="Menlo"/>
                <a:cs typeface="Menlo"/>
              </a:rPr>
              <a:t>  const resultado = jugar(juego, 2);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0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2B4D"/>
                </a:solidFill>
                <a:latin typeface="Menlo"/>
                <a:ea typeface="Menlo"/>
                <a:cs typeface="Menlo"/>
              </a:rPr>
              <a:t>  assert.equal(resultado.mensaje, "Ganó X");</a:t>
            </a:r>
          </a:p>
          <a:p xmlns:a="http://schemas.openxmlformats.org/drawingml/2006/main">
            <a:pPr>
              <a:defRPr sz="1200" b="0">
                <a:solidFill>
                  <a:srgbClr val="172B4D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72B4D"/>
                </a:solidFill>
                <a:latin typeface="Menlo"/>
                <a:ea typeface="Menlo"/>
                <a:cs typeface="Menlo"/>
              </a:rPr>
              <a:t>});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625A36-7E08-41C4-8BAA-A06BBF18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1057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579"/>
                </a:solidFill>
                <a:latin typeface="Arial"/>
                <a:ea typeface="Arial"/>
                <a:cs typeface="Arial"/>
              </a:rPr>
              <a:t>Ambas preparan la misma partida y esperan el mismo resultado. La segunda nombra cada paso con más detalle.</a:t>
            </a:r>
          </a:p>
        </p:txBody>
      </p:sp>
    </p:spTree>
    <p:extLst>
      <p:ext uri="{BB962C8B-B14F-4D97-AF65-F5344CB8AC3E}">
        <p14:creationId xmlns:p14="http://schemas.microsoft.com/office/powerpoint/2010/main" val="11252758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C29313-9BC3-40AB-AC8F-3E95A6963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Qué cambia entre las dos formas de escribirlas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ADED9B-7459-4E81-8C43-E47F367A6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579"/>
                </a:solidFill>
                <a:latin typeface="Arial"/>
                <a:ea typeface="Arial"/>
                <a:cs typeface="Arial"/>
              </a:rPr>
              <a:t>Taller 6 · TDD                                 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5648F5-BDB1-4997-AA49-4E9236C37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CORTA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535A13-2506-4AA4-873C-DC2BD0B82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35255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E85D3F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E85D3F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E85D3F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E85D3F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E85D3F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E85D3F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E85D3F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E85D3F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E85D3F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E85D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E85D3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85D3F"/>
                </a:solidFill>
                <a:latin typeface="Arial"/>
                <a:ea typeface="Arial"/>
                <a:cs typeface="Arial"/>
              </a:rPr>
              <a:t>GENERADA CON 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0441D1-40F5-42DE-9EB3-0D56BD05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504825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AC6BA5-F556-4B07-AD95-3EFE404F0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09750"/>
            <a:ext cx="516255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7EA910-1495-47FC-B358-279829AE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4572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• Títulos breves</a:t>
            </a:r>
          </a:p>
          <a:p xmlns:a="http://schemas.openxmlformats.org/drawingml/2006/main">
            <a: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• Menos variables</a:t>
            </a:r>
          </a:p>
          <a:p xmlns:a="http://schemas.openxmlformats.org/drawingml/2006/main">
            <a: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• Menos pasos visibles</a:t>
            </a:r>
          </a:p>
          <a:p xmlns:a="http://schemas.openxmlformats.org/drawingml/2006/main">
            <a: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• Más fácil de repasar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Conviene entender qué hace cada jugada.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2C5BCD-528E-421C-84D8-8ACCE70BA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95500"/>
            <a:ext cx="46672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• Títulos más descriptivos</a:t>
            </a:r>
          </a:p>
          <a:p xmlns:a="http://schemas.openxmlformats.org/drawingml/2006/main">
            <a: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• Guarda el resultado en una variable</a:t>
            </a:r>
          </a:p>
          <a:p xmlns:a="http://schemas.openxmlformats.org/drawingml/2006/main">
            <a: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• Separa preparación, acción y revisión</a:t>
            </a:r>
          </a:p>
          <a:p xmlns:a="http://schemas.openxmlformats.org/drawingml/2006/main">
            <a: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• Más fácil de seguir paso a paso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Puede repetir detalles que ya se entienden.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AC4FC8-ED23-47FC-ABA2-F4FB9C8DE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054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  <a:lvl1pPr>
              <a:defRPr sz="157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1pPr>
            <a:lvl2pPr>
              <a:defRPr sz="157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2pPr>
            <a:lvl3pPr>
              <a:defRPr sz="157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3pPr>
            <a:lvl4pPr>
              <a:defRPr sz="157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4pPr>
            <a:lvl5pPr>
              <a:defRPr sz="157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5pPr>
            <a:lvl6pPr>
              <a:defRPr sz="157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6pPr>
            <a:lvl7pPr>
              <a:defRPr sz="157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7pPr>
            <a:lvl8pPr>
              <a:defRPr sz="157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8pPr>
            <a:lvl9pPr>
              <a:defRPr sz="157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Las dos suites tienen 8 pruebas y cubren los mismos comportamientos.</a:t>
            </a:r>
          </a:p>
        </p:txBody>
      </p:sp>
    </p:spTree>
    <p:extLst>
      <p:ext uri="{BB962C8B-B14F-4D97-AF65-F5344CB8AC3E}">
        <p14:creationId xmlns:p14="http://schemas.microsoft.com/office/powerpoint/2010/main" val="5958628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7FDD57-BFAA-4CE7-B7C9-083C8488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La IA ayuda a proponer; tú decides qué conservar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C1DC14-78E0-422E-8481-3ACB20863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defPPr>
            <a:lvl1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1pPr>
            <a:lvl2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2pPr>
            <a:lvl3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3pPr>
            <a:lvl4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4pPr>
            <a:lvl5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5pPr>
            <a:lvl6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6pPr>
            <a:lvl7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7pPr>
            <a:lvl8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8pPr>
            <a:lvl9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579"/>
                </a:solidFill>
                <a:latin typeface="Arial"/>
                <a:ea typeface="Arial"/>
                <a:cs typeface="Arial"/>
              </a:rPr>
              <a:t>Taller 6 · TDD                                 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52C704-CBA7-4315-BC2B-D543580E1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Para explicar la versión corta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6D67EE-3808-4C07-86DC-782AD9B2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5300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1. Cada prueba empieza una partida.</a:t>
            </a:r>
          </a:p>
          <a:p xmlns:a="http://schemas.openxmlformats.org/drawingml/2006/main">
            <a: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2. Algunas jugadas preparan una situación.</a:t>
            </a:r>
          </a:p>
          <a:p xmlns:a="http://schemas.openxmlformats.org/drawingml/2006/main">
            <a: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3. La última jugada produce el resultado.</a:t>
            </a:r>
          </a:p>
          <a:p xmlns:a="http://schemas.openxmlformats.org/drawingml/2006/main">
            <a: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4. La aserción comprueba si ocurrió lo esperado.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533AB8-4CF5-45A0-AB7D-6364B190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371600"/>
            <a:ext cx="5334000" cy="356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0794F9-7F83-42D9-BE7E-F74B2A441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5735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Comparación justa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DF1BFA-8F39-44C2-9E5D-6E6438DE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90750"/>
            <a:ext cx="4572000" cy="22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• Mismos 8 escenarios</a:t>
            </a:r>
          </a:p>
          <a:p xmlns:a="http://schemas.openxmlformats.org/drawingml/2006/main">
            <a: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• Mismas reglas del juego</a:t>
            </a:r>
          </a:p>
          <a:p xmlns:a="http://schemas.openxmlformats.org/drawingml/2006/main">
            <a: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• Diferente cantidad de explicación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7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Antes de entregar, lee las pruebas y confirma que puedes explicar cada número y cada resultado.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EAA674-922C-47F7-A9BA-A9EC94BD0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3657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579"/>
                </a:solidFill>
                <a:latin typeface="Arial"/>
                <a:ea typeface="Arial"/>
                <a:cs typeface="Arial"/>
              </a:rPr>
              <a:t>El prompt utilizado está en prompts/pruebas-ia.md</a:t>
            </a:r>
          </a:p>
        </p:txBody>
      </p:sp>
    </p:spTree>
    <p:extLst>
      <p:ext uri="{BB962C8B-B14F-4D97-AF65-F5344CB8AC3E}">
        <p14:creationId xmlns:p14="http://schemas.microsoft.com/office/powerpoint/2010/main" val="16296435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2026-10-28T22:09:37.1590000Z</dcterms:created>
  <dcterms:modified xsi:type="dcterms:W3CDTF">2026-10-28T22:09:37.1590000Z</dcterms:modified>
</coreProperties>
</file>