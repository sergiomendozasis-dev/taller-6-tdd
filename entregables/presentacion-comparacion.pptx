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2ccbc30e4b4ad1" /><Relationship Type="http://schemas.openxmlformats.org/officeDocument/2006/relationships/extended-properties" Target="/docProps/app.xml" Id="R9e2c701497114289" /><Relationship Type="http://schemas.openxmlformats.org/officeDocument/2006/relationships/officeDocument" Target="/ppt/presentation.xml" Id="R3f83d5c2c6f542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7c1fcde54b4c88"/>
  </p:sldMasterIdLst>
  <p:notesMasterIdLst>
    <p:notesMasterId xmlns:r="http://schemas.openxmlformats.org/officeDocument/2006/relationships" r:id="Rc1c95e7fadcb490e"/>
  </p:notesMasterIdLst>
  <p:sldIdLst>
    <p:sldId xmlns:r="http://schemas.openxmlformats.org/officeDocument/2006/relationships" id="256" r:id="R8e31372842a9416a"/>
    <p:sldId xmlns:r="http://schemas.openxmlformats.org/officeDocument/2006/relationships" id="257" r:id="Rbd563e4cb79f4e81"/>
    <p:sldId xmlns:r="http://schemas.openxmlformats.org/officeDocument/2006/relationships" id="258" r:id="R9557dc091aa6469a"/>
    <p:sldId xmlns:r="http://schemas.openxmlformats.org/officeDocument/2006/relationships" id="259" r:id="R95cf8baf6f474c6f"/>
    <p:sldId xmlns:r="http://schemas.openxmlformats.org/officeDocument/2006/relationships" id="260" r:id="Rc12916dccd2543c0"/>
    <p:sldId xmlns:r="http://schemas.openxmlformats.org/officeDocument/2006/relationships" id="261" r:id="Re21759326b4842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b8afae1de43d8" /><Relationship Type="http://schemas.openxmlformats.org/officeDocument/2006/relationships/slideMaster" Target="/ppt/slideMasters/slideMaster1.xml" Id="R7e7c1fcde54b4c88" /><Relationship Type="http://schemas.openxmlformats.org/officeDocument/2006/relationships/notesMaster" Target="/ppt/notesMasters/notesMaster1.xml" Id="Rc1c95e7fadcb490e" /><Relationship Type="http://schemas.openxmlformats.org/officeDocument/2006/relationships/presProps" Target="/ppt/presProps.xml" Id="Re0ddaae6ad2e44b2" /><Relationship Type="http://schemas.openxmlformats.org/officeDocument/2006/relationships/tableStyles" Target="/ppt/tableStyles.xml" Id="R6cdf2443068c45b5" /><Relationship Type="http://schemas.openxmlformats.org/officeDocument/2006/relationships/slide" Target="/ppt/slides/slide1.xml" Id="R8e31372842a9416a" /><Relationship Type="http://schemas.openxmlformats.org/officeDocument/2006/relationships/slide" Target="/ppt/slides/slide2.xml" Id="Rbd563e4cb79f4e81" /><Relationship Type="http://schemas.openxmlformats.org/officeDocument/2006/relationships/slide" Target="/ppt/slides/slide3.xml" Id="R9557dc091aa6469a" /><Relationship Type="http://schemas.openxmlformats.org/officeDocument/2006/relationships/slide" Target="/ppt/slides/slide4.xml" Id="R95cf8baf6f474c6f" /><Relationship Type="http://schemas.openxmlformats.org/officeDocument/2006/relationships/slide" Target="/ppt/slides/slide5.xml" Id="Rc12916dccd2543c0" /><Relationship Type="http://schemas.openxmlformats.org/officeDocument/2006/relationships/slide" Target="/ppt/slides/slide6.xml" Id="Re21759326b4842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3099d7f164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da0594a334039" /><Relationship Type="http://schemas.openxmlformats.org/officeDocument/2006/relationships/notesMaster" Target="/ppt/notesMasters/notesMaster1.xml" Id="R000834851090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747a2399e64486" /><Relationship Type="http://schemas.openxmlformats.org/officeDocument/2006/relationships/notesMaster" Target="/ppt/notesMasters/notesMaster1.xml" Id="Rdc15e6ce939844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f70a7c298b4d0e" /><Relationship Type="http://schemas.openxmlformats.org/officeDocument/2006/relationships/notesMaster" Target="/ppt/notesMasters/notesMaster1.xml" Id="R92eaf2d7ed174c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85e407fcc84d1b" /><Relationship Type="http://schemas.openxmlformats.org/officeDocument/2006/relationships/notesMaster" Target="/ppt/notesMasters/notesMaster1.xml" Id="Rc51576a134334f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cc3b17723c4a75" /><Relationship Type="http://schemas.openxmlformats.org/officeDocument/2006/relationships/notesMaster" Target="/ppt/notesMasters/notesMaster1.xml" Id="R451044c31cfb4a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2d608e2b854c8a" /><Relationship Type="http://schemas.openxmlformats.org/officeDocument/2006/relationships/notesMaster" Target="/ppt/notesMasters/notesMaster1.xml" Id="R2371c33e718340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877002e7940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6c65d4c7941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ef1736c694c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8f232c3d344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b1250447e43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ef655a52648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07BF6B-0F39-4988-B702-4D324F08A9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BE0B3C-D44E-42E7-850D-C461927AF0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105DA7-5BC3-464F-B61D-AC2D090F09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36810E-D526-4115-87DD-77E2343D08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652050-4B36-4887-8A8C-F41B981E23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F9A214-372A-495A-8CF3-1ED987379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F715DB-3877-45B8-A676-F466B0C4F8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4E6EA1-3383-4279-9400-9BA22CE499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D27A6C-F96D-4A61-B5EF-4088ACA31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81A0BA-4FE3-4ECC-ADB0-A3DA9988A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851d4d24314ecf" /><Relationship Type="http://schemas.openxmlformats.org/officeDocument/2006/relationships/slideLayout" Target="/ppt/slideLayouts/slideLayout1.xml" Id="R5acc5da1726c4888" /><Relationship Type="http://schemas.openxmlformats.org/officeDocument/2006/relationships/slideLayout" Target="/ppt/slideLayouts/slideLayout2.xml" Id="R5e46fc1a6db64fcb" /><Relationship Type="http://schemas.openxmlformats.org/officeDocument/2006/relationships/slideLayout" Target="/ppt/slideLayouts/slideLayout3.xml" Id="R07e8cfecaa7c4fa4" /><Relationship Type="http://schemas.openxmlformats.org/officeDocument/2006/relationships/slideLayout" Target="/ppt/slideLayouts/slideLayout4.xml" Id="R226521e92bcf4ce1" /><Relationship Type="http://schemas.openxmlformats.org/officeDocument/2006/relationships/slideLayout" Target="/ppt/slideLayouts/slideLayout5.xml" Id="Rf07a7261d58a45aa" /><Relationship Type="http://schemas.openxmlformats.org/officeDocument/2006/relationships/slideLayout" Target="/ppt/slideLayouts/slideLayout6.xml" Id="Re595edd2a1d945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cc5da1726c4888"/>
    <p:sldLayoutId xmlns:r="http://schemas.openxmlformats.org/officeDocument/2006/relationships" id="2147483650" r:id="R5e46fc1a6db64fcb"/>
    <p:sldLayoutId xmlns:r="http://schemas.openxmlformats.org/officeDocument/2006/relationships" id="2147483651" r:id="R07e8cfecaa7c4fa4"/>
    <p:sldLayoutId xmlns:r="http://schemas.openxmlformats.org/officeDocument/2006/relationships" id="2147483652" r:id="R226521e92bcf4ce1"/>
    <p:sldLayoutId xmlns:r="http://schemas.openxmlformats.org/officeDocument/2006/relationships" id="2147483653" r:id="Rf07a7261d58a45aa"/>
    <p:sldLayoutId xmlns:r="http://schemas.openxmlformats.org/officeDocument/2006/relationships" id="2147483654" r:id="Re595edd2a1d945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bd0982def4817" /><Relationship Type="http://schemas.openxmlformats.org/officeDocument/2006/relationships/notesSlide" Target="/ppt/notesSlides/notesSlide1.xml" Id="R4a446a6ca95548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836d3e9894ee5" /><Relationship Type="http://schemas.openxmlformats.org/officeDocument/2006/relationships/notesSlide" Target="/ppt/notesSlides/notesSlide2.xml" Id="Rf8622b5661994d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23ee0d207476a" /><Relationship Type="http://schemas.openxmlformats.org/officeDocument/2006/relationships/notesSlide" Target="/ppt/notesSlides/notesSlide3.xml" Id="Rb82d14c9228b4b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4957886136454c" /><Relationship Type="http://schemas.openxmlformats.org/officeDocument/2006/relationships/notesSlide" Target="/ppt/notesSlides/notesSlide4.xml" Id="R41995bed950e46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21051eb6024f35" /><Relationship Type="http://schemas.openxmlformats.org/officeDocument/2006/relationships/notesSlide" Target="/ppt/notesSlides/notesSlide5.xml" Id="R868b76a2bbc843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ae142e49e49e0" /><Relationship Type="http://schemas.openxmlformats.org/officeDocument/2006/relationships/notesSlide" Target="/ppt/notesSlides/notesSlide6.xml" Id="R6c4607e414a649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ALLER #6 · TDD">
            <a:extLst xmlns:a="http://schemas.openxmlformats.org/drawingml/2006/main">
              <a:ext uri="{FF2B5EF4-FFF2-40B4-BE49-F238E27FC236}">
                <a16:creationId xmlns:a16="http://schemas.microsoft.com/office/drawing/2014/main" id="{25A1C990-CAF0-476D-ADEB-F4761913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9FD7C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D7CB"/>
                </a:solidFill>
                <a:latin typeface="Arial"/>
                <a:ea typeface="Arial"/>
                <a:cs typeface="Arial"/>
              </a:rPr>
              <a:t>TALLER #6 · TDD</a:t>
            </a:r>
          </a:p>
        </p:txBody>
      </p:sp>
      <p:sp>
        <p:nvSpPr>
          <p:cNvPr id="2" name="Tres en Raya">
            <a:extLst xmlns:a="http://schemas.openxmlformats.org/drawingml/2006/main">
              <a:ext uri="{FF2B5EF4-FFF2-40B4-BE49-F238E27FC236}">
                <a16:creationId xmlns:a16="http://schemas.microsoft.com/office/drawing/2014/main" id="{9B4669B1-8A04-4F42-84E4-D410657E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Tres en Raya</a:t>
            </a:r>
          </a:p>
        </p:txBody>
      </p:sp>
      <p:sp>
        <p:nvSpPr>
          <p:cNvPr id="3" name="Comparación de pruebas unita">
            <a:extLst xmlns:a="http://schemas.openxmlformats.org/drawingml/2006/main">
              <a:ext uri="{FF2B5EF4-FFF2-40B4-BE49-F238E27FC236}">
                <a16:creationId xmlns:a16="http://schemas.microsoft.com/office/drawing/2014/main" id="{71B20F67-B0D8-443A-885A-DB933765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942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Comparación de pruebas unitarias</a:t>
            </a:r>
          </a:p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creadas de forma manual y con IA</a:t>
            </a:r>
          </a:p>
        </p:txBody>
      </p:sp>
      <p:sp>
        <p:nvSpPr>
          <p:cNvPr id="4" name="JavaScript · Node.js · 15 pr">
            <a:extLst xmlns:a="http://schemas.openxmlformats.org/drawingml/2006/main">
              <a:ext uri="{FF2B5EF4-FFF2-40B4-BE49-F238E27FC236}">
                <a16:creationId xmlns:a16="http://schemas.microsoft.com/office/drawing/2014/main" id="{6715CE4A-6BB0-458B-9FD9-683151D8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E3E7"/>
                </a:solidFill>
                <a:latin typeface="Arial"/>
                <a:ea typeface="Arial"/>
                <a:cs typeface="Arial"/>
              </a:rPr>
              <a:t>JavaScript · Node.js · 15 pruebas ejecutadas</a:t>
            </a:r>
          </a:p>
        </p:txBody>
      </p:sp>
      <p:sp>
        <p:nvSpPr>
          <p:cNvPr id="5" name="28 de octubre de 2026">
            <a:extLst xmlns:a="http://schemas.openxmlformats.org/drawingml/2006/main">
              <a:ext uri="{FF2B5EF4-FFF2-40B4-BE49-F238E27FC236}">
                <a16:creationId xmlns:a16="http://schemas.microsoft.com/office/drawing/2014/main" id="{E674BB20-54BE-4464-9F3E-46870081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7E3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E3E7"/>
                </a:solidFill>
                <a:latin typeface="Arial"/>
                <a:ea typeface="Arial"/>
                <a:cs typeface="Arial"/>
              </a:rPr>
              <a:t>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591867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ulo-2">
            <a:extLst xmlns:a="http://schemas.openxmlformats.org/drawingml/2006/main">
              <a:ext uri="{FF2B5EF4-FFF2-40B4-BE49-F238E27FC236}">
                <a16:creationId xmlns:a16="http://schemas.microsoft.com/office/drawing/2014/main" id="{BAEE025E-8F84-4DDE-B2DB-4D75CB24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Reglas cubiertas</a:t>
            </a:r>
          </a:p>
        </p:txBody>
      </p:sp>
      <p:sp>
        <p:nvSpPr>
          <p:cNvPr id="2" name="Taller #6  ·  02">
            <a:extLst xmlns:a="http://schemas.openxmlformats.org/drawingml/2006/main">
              <a:ext uri="{FF2B5EF4-FFF2-40B4-BE49-F238E27FC236}">
                <a16:creationId xmlns:a16="http://schemas.microsoft.com/office/drawing/2014/main" id="{7B22EFB5-E364-4085-97E4-93E91B25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5"/>
                </a:solidFill>
                <a:latin typeface="Arial"/>
                <a:ea typeface="Arial"/>
                <a:cs typeface="Arial"/>
              </a:rPr>
              <a:t>Taller #6  ·  02</a:t>
            </a:r>
          </a:p>
        </p:txBody>
      </p:sp>
      <p:sp>
        <p:nvSpPr>
          <p:cNvPr id="3" name="Dos jugadores colocan X y O ">
            <a:extLst xmlns:a="http://schemas.openxmlformats.org/drawingml/2006/main">
              <a:ext uri="{FF2B5EF4-FFF2-40B4-BE49-F238E27FC236}">
                <a16:creationId xmlns:a16="http://schemas.microsoft.com/office/drawing/2014/main" id="{EB217262-24FE-4C16-83A8-326DF83B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Dos jugadores colocan X y O en un tablero de nueve casillas. Gana quien completa tres marcas en línea.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4F8D7-4ED8-48F6-8740-A99F6DD2C0A9}"/>
              </a:ext>
            </a:extLst>
          </p:cNvPr>
          <p:cNvGraphicFramePr/>
          <p:nvPr/>
        </p:nvGraphicFramePr>
        <p:xfrm>
          <a:off xmlns:a="http://schemas.openxmlformats.org/drawingml/2006/main" x="838200" y="2333625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1651000"/>
                <a:gridCol w="1651000"/>
              </a:tblGrid>
              <a:tr h="952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75" b="1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9DC"/>
                      </a:solidFill>
                      <a:prstDash val="solid"/>
                    </a:lnL>
                    <a:lnR w="9525">
                      <a:solidFill>
                        <a:srgbClr val="CFD9DC"/>
                      </a:solidFill>
                      <a:prstDash val="solid"/>
                    </a:lnR>
                    <a:lnT w="9525">
                      <a:solidFill>
                        <a:srgbClr val="CFD9DC"/>
                      </a:solidFill>
                      <a:prstDash val="solid"/>
                    </a:lnT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75" b="1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T w="9525">
                      <a:solidFill>
                        <a:srgbClr val="CFD9DC"/>
                      </a:solidFill>
                      <a:prstDash val="solid"/>
                    </a:lnT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75" b="1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T w="9525">
                      <a:solidFill>
                        <a:srgbClr val="CFD9DC"/>
                      </a:solidFill>
                      <a:prstDash val="solid"/>
                    </a:lnT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9DC"/>
                      </a:solidFill>
                      <a:prstDash val="solid"/>
                    </a:lnL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</a:tr>
              <a:tr h="952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9DC"/>
                      </a:solidFill>
                      <a:prstDash val="solid"/>
                    </a:lnL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l programa también controla">
            <a:extLst xmlns:a="http://schemas.openxmlformats.org/drawingml/2006/main">
              <a:ext uri="{FF2B5EF4-FFF2-40B4-BE49-F238E27FC236}">
                <a16:creationId xmlns:a16="http://schemas.microsoft.com/office/drawing/2014/main" id="{7BA7E54F-4E63-4A8D-9914-D08DF174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El programa también controla:</a:t>
            </a:r>
          </a:p>
        </p:txBody>
      </p:sp>
      <p:sp>
        <p:nvSpPr>
          <p:cNvPr id="6" name="• El turno cambia después de">
            <a:extLst xmlns:a="http://schemas.openxmlformats.org/drawingml/2006/main">
              <a:ext uri="{FF2B5EF4-FFF2-40B4-BE49-F238E27FC236}">
                <a16:creationId xmlns:a16="http://schemas.microsoft.com/office/drawing/2014/main" id="{E292CAC2-F456-47F9-84F1-D7C12330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El turno cambia después de una jugada válida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No se puede ocupar una casilla usada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La partida acaba con victoria o empate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Una jugada inválida deja todo igual</a:t>
            </a:r>
          </a:p>
        </p:txBody>
      </p:sp>
    </p:spTree>
    <p:extLst>
      <p:ext uri="{BB962C8B-B14F-4D97-AF65-F5344CB8AC3E}">
        <p14:creationId xmlns:p14="http://schemas.microsoft.com/office/powerpoint/2010/main" val="1212591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ulo-3">
            <a:extLst xmlns:a="http://schemas.openxmlformats.org/drawingml/2006/main">
              <a:ext uri="{FF2B5EF4-FFF2-40B4-BE49-F238E27FC236}">
                <a16:creationId xmlns:a16="http://schemas.microsoft.com/office/drawing/2014/main" id="{DB134584-0F91-4234-AD23-0981A0E6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Pruebas base</a:t>
            </a:r>
          </a:p>
        </p:txBody>
      </p:sp>
      <p:sp>
        <p:nvSpPr>
          <p:cNvPr id="2" name="Taller #6  ·  03">
            <a:extLst xmlns:a="http://schemas.openxmlformats.org/drawingml/2006/main">
              <a:ext uri="{FF2B5EF4-FFF2-40B4-BE49-F238E27FC236}">
                <a16:creationId xmlns:a16="http://schemas.microsoft.com/office/drawing/2014/main" id="{66ED3396-9867-4ABF-804E-A6663286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5"/>
                </a:solidFill>
                <a:latin typeface="Arial"/>
                <a:ea typeface="Arial"/>
                <a:cs typeface="Arial"/>
              </a:rPr>
              <a:t>Taller #6  ·  03</a:t>
            </a:r>
          </a:p>
        </p:txBody>
      </p:sp>
      <p:sp>
        <p:nvSpPr>
          <p:cNvPr id="3" name="8 casos escritos para compro">
            <a:extLst xmlns:a="http://schemas.openxmlformats.org/drawingml/2006/main">
              <a:ext uri="{FF2B5EF4-FFF2-40B4-BE49-F238E27FC236}">
                <a16:creationId xmlns:a16="http://schemas.microsoft.com/office/drawing/2014/main" id="{A2CEFE29-25FC-45AC-B9E8-76339932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C75"/>
                </a:solidFill>
                <a:latin typeface="Arial"/>
                <a:ea typeface="Arial"/>
                <a:cs typeface="Arial"/>
              </a:rPr>
              <a:t>8 casos escritos para comprobar primero el comportamiento que se espera del juego.</a:t>
            </a:r>
          </a:p>
        </p:txBody>
      </p:sp>
      <p:sp>
        <p:nvSpPr>
          <p:cNvPr id="4" name="1. La partida empieza vacía&#10;">
            <a:extLst xmlns:a="http://schemas.openxmlformats.org/drawingml/2006/main">
              <a:ext uri="{FF2B5EF4-FFF2-40B4-BE49-F238E27FC236}">
                <a16:creationId xmlns:a16="http://schemas.microsoft.com/office/drawing/2014/main" id="{2A398E6A-02EA-4AD1-8AC2-488E4143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1. La partida empieza vacía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2. El turno pasa de X a O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3. Una fila completa da la victoria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4. Una diagonal completa da la victoria</a:t>
            </a:r>
          </a:p>
        </p:txBody>
      </p:sp>
      <p:sp>
        <p:nvSpPr>
          <p:cNvPr id="5" name="5. El tablero lleno termina ">
            <a:extLst xmlns:a="http://schemas.openxmlformats.org/drawingml/2006/main">
              <a:ext uri="{FF2B5EF4-FFF2-40B4-BE49-F238E27FC236}">
                <a16:creationId xmlns:a16="http://schemas.microsoft.com/office/drawing/2014/main" id="{73E2836B-36A0-43F6-8441-2F5A17F3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5. El tablero lleno termina en empate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6. Una casilla ocupada se rechaza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7. Una posición fuera del tablero se rechaza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8. La partida no acepta jugadas después de ganar</a:t>
            </a:r>
          </a:p>
        </p:txBody>
      </p:sp>
      <p:sp>
        <p:nvSpPr>
          <p:cNvPr id="6" name="La suite prioriza las reglas">
            <a:extLst xmlns:a="http://schemas.openxmlformats.org/drawingml/2006/main">
              <a:ext uri="{FF2B5EF4-FFF2-40B4-BE49-F238E27FC236}">
                <a16:creationId xmlns:a16="http://schemas.microsoft.com/office/drawing/2014/main" id="{7491B824-8B52-4FE6-8EBA-C1941F01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La suite prioriza las reglas que una persona nota al jugar.</a:t>
            </a:r>
          </a:p>
        </p:txBody>
      </p:sp>
    </p:spTree>
    <p:extLst>
      <p:ext uri="{BB962C8B-B14F-4D97-AF65-F5344CB8AC3E}">
        <p14:creationId xmlns:p14="http://schemas.microsoft.com/office/powerpoint/2010/main" val="413381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ulo-4">
            <a:extLst xmlns:a="http://schemas.openxmlformats.org/drawingml/2006/main">
              <a:ext uri="{FF2B5EF4-FFF2-40B4-BE49-F238E27FC236}">
                <a16:creationId xmlns:a16="http://schemas.microsoft.com/office/drawing/2014/main" id="{46C888B6-CBA8-47C1-AF4C-69EE90F6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Pruebas propuestas con IA</a:t>
            </a:r>
          </a:p>
        </p:txBody>
      </p:sp>
      <p:sp>
        <p:nvSpPr>
          <p:cNvPr id="2" name="Taller #6  ·  04">
            <a:extLst xmlns:a="http://schemas.openxmlformats.org/drawingml/2006/main">
              <a:ext uri="{FF2B5EF4-FFF2-40B4-BE49-F238E27FC236}">
                <a16:creationId xmlns:a16="http://schemas.microsoft.com/office/drawing/2014/main" id="{567C8B2F-217B-4CE7-8AAB-340F2B34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5"/>
                </a:solidFill>
                <a:latin typeface="Arial"/>
                <a:ea typeface="Arial"/>
                <a:cs typeface="Arial"/>
              </a:rPr>
              <a:t>Taller #6  ·  04</a:t>
            </a:r>
          </a:p>
        </p:txBody>
      </p:sp>
      <p:sp>
        <p:nvSpPr>
          <p:cNvPr id="3" name="7 casos adicionales redactad">
            <a:extLst xmlns:a="http://schemas.openxmlformats.org/drawingml/2006/main">
              <a:ext uri="{FF2B5EF4-FFF2-40B4-BE49-F238E27FC236}">
                <a16:creationId xmlns:a16="http://schemas.microsoft.com/office/drawing/2014/main" id="{A3E5A7B5-2B53-4C27-8E70-932C15DB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C75"/>
                </a:solidFill>
                <a:latin typeface="Arial"/>
                <a:ea typeface="Arial"/>
                <a:cs typeface="Arial"/>
              </a:rPr>
              <a:t>7 casos adicionales redactados a partir del prompt incluido en el repositorio.</a:t>
            </a:r>
          </a:p>
        </p:txBody>
      </p:sp>
      <p:sp>
        <p:nvSpPr>
          <p:cNvPr id="4" name="• Reconoce una victoria en c">
            <a:extLst xmlns:a="http://schemas.openxmlformats.org/drawingml/2006/main">
              <a:ext uri="{FF2B5EF4-FFF2-40B4-BE49-F238E27FC236}">
                <a16:creationId xmlns:a16="http://schemas.microsoft.com/office/drawing/2014/main" id="{23E10532-7316-46DF-AAF0-24E6E65A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000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Reconoce una victoria en columna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Rechaza números decimales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Rechaza posiciones negativas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Rechaza texto en lugar de un número</a:t>
            </a:r>
          </a:p>
        </p:txBody>
      </p:sp>
      <p:sp>
        <p:nvSpPr>
          <p:cNvPr id="5" name="• Una jugada inválida no cam">
            <a:extLst xmlns:a="http://schemas.openxmlformats.org/drawingml/2006/main">
              <a:ext uri="{FF2B5EF4-FFF2-40B4-BE49-F238E27FC236}">
                <a16:creationId xmlns:a16="http://schemas.microsoft.com/office/drawing/2014/main" id="{B4166AC2-12BB-4639-A8EB-737D510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048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Una jugada inválida no cambia el tablero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Una jugada inválida no cambia el turno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• El turno se conserva cuando hay empate</a:t>
            </a:r>
          </a:p>
        </p:txBody>
      </p:sp>
      <p:sp>
        <p:nvSpPr>
          <p:cNvPr id="6" name="Prompt: “Incluye éxito, lími">
            <a:extLst xmlns:a="http://schemas.openxmlformats.org/drawingml/2006/main">
              <a:ext uri="{FF2B5EF4-FFF2-40B4-BE49-F238E27FC236}">
                <a16:creationId xmlns:a16="http://schemas.microsoft.com/office/drawing/2014/main" id="{577A400F-27EA-4D6C-A3B2-9C5C852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45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Prompt: “Incluye éxito, límites y errores. Evita duplicar casos. No inventes funciones.”</a:t>
            </a:r>
          </a:p>
        </p:txBody>
      </p:sp>
    </p:spTree>
    <p:extLst>
      <p:ext uri="{BB962C8B-B14F-4D97-AF65-F5344CB8AC3E}">
        <p14:creationId xmlns:p14="http://schemas.microsoft.com/office/powerpoint/2010/main" val="483127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ulo-5">
            <a:extLst xmlns:a="http://schemas.openxmlformats.org/drawingml/2006/main">
              <a:ext uri="{FF2B5EF4-FFF2-40B4-BE49-F238E27FC236}">
                <a16:creationId xmlns:a16="http://schemas.microsoft.com/office/drawing/2014/main" id="{5FFE7667-27DD-4947-A0C3-DAA0EACB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Diferencias entre las dos suites</a:t>
            </a:r>
          </a:p>
        </p:txBody>
      </p:sp>
      <p:sp>
        <p:nvSpPr>
          <p:cNvPr id="2" name="Taller #6  ·  05">
            <a:extLst xmlns:a="http://schemas.openxmlformats.org/drawingml/2006/main">
              <a:ext uri="{FF2B5EF4-FFF2-40B4-BE49-F238E27FC236}">
                <a16:creationId xmlns:a16="http://schemas.microsoft.com/office/drawing/2014/main" id="{03A0581E-C959-49B8-BF54-99BF97B1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5"/>
                </a:solidFill>
                <a:latin typeface="Arial"/>
                <a:ea typeface="Arial"/>
                <a:cs typeface="Arial"/>
              </a:rPr>
              <a:t>Taller #6  ·  05</a:t>
            </a:r>
          </a:p>
        </p:txBody>
      </p:sp>
      <p:sp>
        <p:nvSpPr>
          <p:cNvPr id="3" name="La IA añade casos límite. La">
            <a:extLst xmlns:a="http://schemas.openxmlformats.org/drawingml/2006/main">
              <a:ext uri="{FF2B5EF4-FFF2-40B4-BE49-F238E27FC236}">
                <a16:creationId xmlns:a16="http://schemas.microsoft.com/office/drawing/2014/main" id="{C808478E-9965-4890-BB2D-BEEC229A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C75"/>
                </a:solidFill>
                <a:latin typeface="Arial"/>
                <a:ea typeface="Arial"/>
                <a:cs typeface="Arial"/>
              </a:rPr>
              <a:t>La IA añade casos límite. La suite base cubre el recorrido normal del juego.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ACDE5-A353-4BB5-9246-962D543910F5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394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3150"/>
                <a:gridCol w="3613150"/>
                <a:gridCol w="3613150"/>
              </a:tblGrid>
              <a:tr h="6858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Aspecto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9DC"/>
                      </a:solidFill>
                      <a:prstDash val="solid"/>
                    </a:lnL>
                    <a:lnR w="9525">
                      <a:solidFill>
                        <a:srgbClr val="CFD9DC"/>
                      </a:solidFill>
                      <a:prstDash val="solid"/>
                    </a:lnR>
                    <a:lnT w="9525">
                      <a:solidFill>
                        <a:srgbClr val="CFD9DC"/>
                      </a:solidFill>
                      <a:prstDash val="solid"/>
                    </a:lnT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Suite base · 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T w="9525">
                      <a:solidFill>
                        <a:srgbClr val="CFD9DC"/>
                      </a:solidFill>
                      <a:prstDash val="solid"/>
                    </a:lnT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Suite IA · 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T w="9525">
                      <a:solidFill>
                        <a:srgbClr val="CFD9DC"/>
                      </a:solidFill>
                      <a:prstDash val="solid"/>
                    </a:lnT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Enfoque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9DC"/>
                      </a:solidFill>
                      <a:prstDash val="solid"/>
                    </a:lnL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Reglas principales del juego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Entradas límite y estado sin cambios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Ejemplos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9DC"/>
                      </a:solidFill>
                      <a:prstDash val="solid"/>
                    </a:lnL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Inicio, turnos, victoria y empate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Decimal, negativo, texto y columna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Fortaleza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9DC"/>
                      </a:solidFill>
                      <a:prstDash val="solid"/>
                    </a:lnL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Se lee de corrido y refleja una partida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Encuentra fallos en validaciones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3F7F6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Para mejorar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9DC"/>
                      </a:solidFill>
                      <a:prstDash val="solid"/>
                    </a:lnL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Añadir victoria vertical y más límites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Quitar repeticiones y revisar cada caso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9DC"/>
                      </a:solidFill>
                      <a:prstDash val="solid"/>
                    </a:lnR>
                    <a:lnB w="9525">
                      <a:solidFill>
                        <a:srgbClr val="CF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a revisión humana sigue sie">
            <a:extLst xmlns:a="http://schemas.openxmlformats.org/drawingml/2006/main">
              <a:ext uri="{FF2B5EF4-FFF2-40B4-BE49-F238E27FC236}">
                <a16:creationId xmlns:a16="http://schemas.microsoft.com/office/drawing/2014/main" id="{B010DD29-5182-49A3-BB6B-6F6368DE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64"/>
          </a:bodyPr>
          <a:lstStyle xmlns:a="http://schemas.openxmlformats.org/drawingml/2006/main">
            <a:def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La revisión humana sigue siendo necesaria: la IA puede repetir comprobaciones o asumir detalles del programa.</a:t>
            </a:r>
          </a:p>
        </p:txBody>
      </p:sp>
    </p:spTree>
    <p:extLst>
      <p:ext uri="{BB962C8B-B14F-4D97-AF65-F5344CB8AC3E}">
        <p14:creationId xmlns:p14="http://schemas.microsoft.com/office/powerpoint/2010/main" val="1820901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ulo-6">
            <a:extLst xmlns:a="http://schemas.openxmlformats.org/drawingml/2006/main">
              <a:ext uri="{FF2B5EF4-FFF2-40B4-BE49-F238E27FC236}">
                <a16:creationId xmlns:a16="http://schemas.microsoft.com/office/drawing/2014/main" id="{58390EFF-BEDD-48CF-87CE-8EFC6508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Resultado y aprendizaje</a:t>
            </a:r>
          </a:p>
        </p:txBody>
      </p:sp>
      <p:sp>
        <p:nvSpPr>
          <p:cNvPr id="2" name="Taller #6  ·  06">
            <a:extLst xmlns:a="http://schemas.openxmlformats.org/drawingml/2006/main">
              <a:ext uri="{FF2B5EF4-FFF2-40B4-BE49-F238E27FC236}">
                <a16:creationId xmlns:a16="http://schemas.microsoft.com/office/drawing/2014/main" id="{63B90AD0-3927-4785-81FE-12C7165A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C75"/>
                </a:solidFill>
                <a:latin typeface="Arial"/>
                <a:ea typeface="Arial"/>
                <a:cs typeface="Arial"/>
              </a:rPr>
              <a:t>Taller #6  ·  06</a:t>
            </a:r>
          </a:p>
        </p:txBody>
      </p:sp>
      <p:sp>
        <p:nvSpPr>
          <p:cNvPr id="3" name="15 de 15 pruebas pasaron">
            <a:extLst xmlns:a="http://schemas.openxmlformats.org/drawingml/2006/main">
              <a:ext uri="{FF2B5EF4-FFF2-40B4-BE49-F238E27FC236}">
                <a16:creationId xmlns:a16="http://schemas.microsoft.com/office/drawing/2014/main" id="{BD3CB134-10F2-4ED6-96B2-0DCB94EA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15 de 15 pruebas pasaron</a:t>
            </a:r>
          </a:p>
        </p:txBody>
      </p:sp>
      <p:sp>
        <p:nvSpPr>
          <p:cNvPr id="4" name="8 base  +  7 propuestas con ">
            <a:extLst xmlns:a="http://schemas.openxmlformats.org/drawingml/2006/main">
              <a:ext uri="{FF2B5EF4-FFF2-40B4-BE49-F238E27FC236}">
                <a16:creationId xmlns:a16="http://schemas.microsoft.com/office/drawing/2014/main" id="{3FFB17DB-ED75-4546-88B5-06B0EA57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E6C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C75"/>
                </a:solidFill>
                <a:latin typeface="Arial"/>
                <a:ea typeface="Arial"/>
                <a:cs typeface="Arial"/>
              </a:rPr>
              <a:t>8 base  +  7 propuestas con IA</a:t>
            </a:r>
          </a:p>
        </p:txBody>
      </p:sp>
      <p:sp>
        <p:nvSpPr>
          <p:cNvPr id="5" name="Para repetir el ciclo TDD">
            <a:extLst xmlns:a="http://schemas.openxmlformats.org/drawingml/2006/main">
              <a:ext uri="{FF2B5EF4-FFF2-40B4-BE49-F238E27FC236}">
                <a16:creationId xmlns:a16="http://schemas.microsoft.com/office/drawing/2014/main" id="{6C7D9901-3C66-4E9C-98AB-C922C537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Para repetir el ciclo TDD</a:t>
            </a:r>
          </a:p>
        </p:txBody>
      </p:sp>
      <p:sp>
        <p:nvSpPr>
          <p:cNvPr id="6" name="1. Escribe un caso pequeño&#10;2">
            <a:extLst xmlns:a="http://schemas.openxmlformats.org/drawingml/2006/main">
              <a:ext uri="{FF2B5EF4-FFF2-40B4-BE49-F238E27FC236}">
                <a16:creationId xmlns:a16="http://schemas.microsoft.com/office/drawing/2014/main" id="{A716032F-FC09-4AA5-A257-FB2B7D6A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4857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1. Escribe un caso pequeño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2. Ejecútalo y observa el fallo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3. Agrega el código mínimo</a:t>
            </a:r>
          </a:p>
          <a:p xmlns:a="http://schemas.openxmlformats.org/drawingml/2006/main">
            <a:pPr algn="l"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4. Repite y ordena el código</a:t>
            </a:r>
          </a:p>
        </p:txBody>
      </p:sp>
      <p:sp>
        <p:nvSpPr>
          <p:cNvPr id="7" name="El código está separado de l">
            <a:extLst xmlns:a="http://schemas.openxmlformats.org/drawingml/2006/main">
              <a:ext uri="{FF2B5EF4-FFF2-40B4-BE49-F238E27FC236}">
                <a16:creationId xmlns:a16="http://schemas.microsoft.com/office/drawing/2014/main" id="{45714B39-31D9-4985-B26A-C6BBE88B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El código está separado de las pruebas y usa funciones con nombres directos. La presentación de CI/CD mencionada en la consigna no estaba adjunta, así que se cubrieron las reglas estándar del Tres en Raya.</a:t>
            </a:r>
          </a:p>
        </p:txBody>
      </p:sp>
    </p:spTree>
    <p:extLst>
      <p:ext uri="{BB962C8B-B14F-4D97-AF65-F5344CB8AC3E}">
        <p14:creationId xmlns:p14="http://schemas.microsoft.com/office/powerpoint/2010/main" val="1805345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2026-10-28T21:56:55.2300000Z</dcterms:created>
  <dcterms:modified xsi:type="dcterms:W3CDTF">2026-10-28T21:56:55.2300000Z</dcterms:modified>
</coreProperties>
</file>